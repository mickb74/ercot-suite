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1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0069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2286000"/>
            <a:ext cx="822960" cy="64008"/>
          </a:xfrm>
          <a:prstGeom prst="rect">
            <a:avLst/>
          </a:prstGeom>
          <a:solidFill>
            <a:srgbClr val="88A9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FE6B0"/>
                </a:solidFill>
                <a:latin typeface="Calibri"/>
              </a:rPr>
              <a:t>SUSTAINABILITY ROUNDTABLE, INC.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2316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How the ERCOT
Settlement Forecast 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160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54A4DA"/>
                </a:solidFill>
                <a:latin typeface="Calibri"/>
              </a:rPr>
              <a:t>A plain-language guide for executive stakeholders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754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48484"/>
                </a:solidFill>
                <a:latin typeface="Calibri"/>
              </a:rPr>
              <a:t>June 2026  ·  ERCOT Customer Portals  ·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069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164592"/>
            <a:ext cx="548640" cy="54864"/>
          </a:xfrm>
          <a:prstGeom prst="rect">
            <a:avLst/>
          </a:prstGeom>
          <a:solidFill>
            <a:srgbClr val="88A9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3774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FE6B0"/>
                </a:solidFill>
                <a:latin typeface="Calibri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38912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What the Forecast Is — and Isn't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07899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  <a:latin typeface="Calibri"/>
              </a:rPr>
              <a:t>Setting the context before the methodology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CF0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5624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48484"/>
                </a:solidFill>
                <a:latin typeface="Calibri"/>
              </a:rPr>
              <a:t>Sustainability Roundtable, Inc.  · 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56248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0069B3"/>
                </a:solidFill>
                <a:latin typeface="Calibri"/>
              </a:rPr>
              <a:t>sr-inc.com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6002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8A918"/>
                </a:solidFill>
                <a:latin typeface="Calibri"/>
              </a:rPr>
              <a:t>Purpose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92024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3666F"/>
                </a:solidFill>
                <a:latin typeface="Calibri"/>
              </a:rPr>
              <a:t>The Projected Bill tab gives offtakers a rolling estimate of the current month's and next month's net settlement under their VPPA or CfD contract — before ERCOT publishes final settlement data (which lags ~60 days).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926080"/>
            <a:ext cx="5303520" cy="2468880"/>
          </a:xfrm>
          <a:prstGeom prst="rect">
            <a:avLst/>
          </a:prstGeom>
          <a:solidFill>
            <a:srgbClr val="ECF0F9"/>
          </a:solidFill>
          <a:ln w="9525">
            <a:solidFill>
              <a:srgbClr val="D7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304495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1A06F"/>
                </a:solidFill>
                <a:latin typeface="Calibri"/>
              </a:rPr>
              <a:t>What it 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3364992"/>
            <a:ext cx="4937759" cy="537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3666F"/>
                </a:solidFill>
                <a:latin typeface="Calibri"/>
              </a:rPr>
              <a:t>• Weather-driven generation model calibrated to the plant's real metered 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3856482"/>
            <a:ext cx="4937759" cy="537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3666F"/>
                </a:solidFill>
                <a:latin typeface="Calibri"/>
              </a:rPr>
              <a:t>• Forward price assumption entered by the user (or defaulted to trailing capture)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4347972"/>
            <a:ext cx="4937759" cy="537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3666F"/>
                </a:solidFill>
                <a:latin typeface="Calibri"/>
              </a:rPr>
              <a:t>• Transparent: every assumption is visible and overridable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4839462"/>
            <a:ext cx="4937759" cy="537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3666F"/>
                </a:solidFill>
                <a:latin typeface="Calibri"/>
              </a:rPr>
              <a:t>• Updated automatically each time the page loads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1600200"/>
            <a:ext cx="5486400" cy="3794760"/>
          </a:xfrm>
          <a:prstGeom prst="rect">
            <a:avLst/>
          </a:prstGeom>
          <a:solidFill>
            <a:srgbClr val="FDF0F2"/>
          </a:solidFill>
          <a:ln w="9525">
            <a:solidFill>
              <a:srgbClr val="E8C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1719072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B23A48"/>
                </a:solidFill>
                <a:latin typeface="Calibri"/>
              </a:rPr>
              <a:t>What it is NOT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8" y="2039112"/>
            <a:ext cx="512064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3666F"/>
                </a:solidFill>
                <a:latin typeface="Calibri"/>
              </a:rPr>
              <a:t>• Final or invoiced settlement — that appears on the Past Settlement page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0528" y="2697480"/>
            <a:ext cx="512064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3666F"/>
                </a:solidFill>
                <a:latin typeface="Calibri"/>
              </a:rPr>
              <a:t>• A price forecast — the user supplies the forward price assumption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0528" y="3355848"/>
            <a:ext cx="512064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3666F"/>
                </a:solidFill>
                <a:latin typeface="Calibri"/>
              </a:rPr>
              <a:t>• A guarantee of future generation — weather and curtailment can differ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10528" y="4014216"/>
            <a:ext cx="512064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3666F"/>
                </a:solidFill>
                <a:latin typeface="Calibri"/>
              </a:rPr>
              <a:t>• An audited figure — for billing disputes, use the ERCOT data on the Invoice Audit page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0528" y="4672584"/>
            <a:ext cx="512064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3666F"/>
                </a:solidFill>
                <a:latin typeface="Calibri"/>
              </a:rPr>
              <a:t>• Retroactively binding — the model is refreshed on each visit; past estimates are not stored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069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164592"/>
            <a:ext cx="548640" cy="54864"/>
          </a:xfrm>
          <a:prstGeom prst="rect">
            <a:avLst/>
          </a:prstGeom>
          <a:solidFill>
            <a:srgbClr val="88A9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3774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FE6B0"/>
                </a:solidFill>
                <a:latin typeface="Calibri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38912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End-to-End: From Weather to Dollar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07899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  <a:latin typeface="Calibri"/>
              </a:rPr>
              <a:t>Five steps, three data sources, one settlement number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CF0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5624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48484"/>
                </a:solidFill>
                <a:latin typeface="Calibri"/>
              </a:rPr>
              <a:t>Sustainability Roundtable, Inc.  · 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56248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0069B3"/>
                </a:solidFill>
                <a:latin typeface="Calibri"/>
              </a:rPr>
              <a:t>sr-inc.com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508760"/>
            <a:ext cx="1965960" cy="502920"/>
          </a:xfrm>
          <a:prstGeom prst="rect">
            <a:avLst/>
          </a:prstGeom>
          <a:solidFill>
            <a:srgbClr val="0069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" y="1536192"/>
            <a:ext cx="18745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CEEFF"/>
                </a:solidFill>
                <a:latin typeface="Calibri"/>
              </a:rPr>
              <a:t>STEP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" y="1755648"/>
            <a:ext cx="18745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Weather
Forecast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011680"/>
            <a:ext cx="1965960" cy="2377440"/>
          </a:xfrm>
          <a:prstGeom prst="rect">
            <a:avLst/>
          </a:prstGeom>
          <a:solidFill>
            <a:srgbClr val="ECF0F9"/>
          </a:solidFill>
          <a:ln w="9525">
            <a:solidFill>
              <a:srgbClr val="D7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" y="2103120"/>
            <a:ext cx="17830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3666F"/>
                </a:solidFill>
                <a:latin typeface="Calibri"/>
              </a:rPr>
              <a:t>Open-Meteo API
16-day hi-res
+35-day GEFS
+ERA5 clim.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40863" y="2606040"/>
            <a:ext cx="201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69B3"/>
                </a:solidFill>
                <a:latin typeface="Calibri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496312" y="1508760"/>
            <a:ext cx="1965960" cy="502920"/>
          </a:xfrm>
          <a:prstGeom prst="rect">
            <a:avLst/>
          </a:prstGeom>
          <a:solidFill>
            <a:srgbClr val="54A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69464" y="1536192"/>
            <a:ext cx="18745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CEEFF"/>
                </a:solidFill>
                <a:latin typeface="Calibri"/>
              </a:rPr>
              <a:t>STEP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9464" y="1755648"/>
            <a:ext cx="18745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Height
Extrap.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96312" y="2011680"/>
            <a:ext cx="1965960" cy="2377440"/>
          </a:xfrm>
          <a:prstGeom prst="rect">
            <a:avLst/>
          </a:prstGeom>
          <a:solidFill>
            <a:srgbClr val="ECF0F9"/>
          </a:solidFill>
          <a:ln w="9525">
            <a:solidFill>
              <a:srgbClr val="D7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606040" y="2103120"/>
            <a:ext cx="17830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3666F"/>
                </a:solidFill>
                <a:latin typeface="Calibri"/>
              </a:rPr>
              <a:t>Wind speed
scaled to
hub height
(Hellmann 1/7)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71416" y="2606040"/>
            <a:ext cx="201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69B3"/>
                </a:solidFill>
                <a:latin typeface="Calibri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26864" y="1508760"/>
            <a:ext cx="1965960" cy="502920"/>
          </a:xfrm>
          <a:prstGeom prst="rect">
            <a:avLst/>
          </a:prstGeom>
          <a:solidFill>
            <a:srgbClr val="88A9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00016" y="1536192"/>
            <a:ext cx="18745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CEEFF"/>
                </a:solidFill>
                <a:latin typeface="Calibri"/>
              </a:rPr>
              <a:t>STEP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0016" y="1755648"/>
            <a:ext cx="18745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Generation
Model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26864" y="2011680"/>
            <a:ext cx="1965960" cy="2377440"/>
          </a:xfrm>
          <a:prstGeom prst="rect">
            <a:avLst/>
          </a:prstGeom>
          <a:solidFill>
            <a:srgbClr val="ECF0F9"/>
          </a:solidFill>
          <a:ln w="9525">
            <a:solidFill>
              <a:srgbClr val="D7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36592" y="2103120"/>
            <a:ext cx="17830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3666F"/>
                </a:solidFill>
                <a:latin typeface="Calibri"/>
              </a:rPr>
              <a:t>Solar: GHI÷1000
× capacity MW
Wind: cubic
power curve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01968" y="2606040"/>
            <a:ext cx="201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69B3"/>
                </a:solidFill>
                <a:latin typeface="Calibri"/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757416" y="1508760"/>
            <a:ext cx="1965960" cy="502920"/>
          </a:xfrm>
          <a:prstGeom prst="rect">
            <a:avLst/>
          </a:prstGeom>
          <a:solidFill>
            <a:srgbClr val="01A0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30568" y="1536192"/>
            <a:ext cx="18745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CEEFF"/>
                </a:solidFill>
                <a:latin typeface="Calibri"/>
              </a:rPr>
              <a:t>STEP 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30568" y="1755648"/>
            <a:ext cx="18745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Calibration
Factor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757416" y="2011680"/>
            <a:ext cx="1965960" cy="2377440"/>
          </a:xfrm>
          <a:prstGeom prst="rect">
            <a:avLst/>
          </a:prstGeom>
          <a:solidFill>
            <a:srgbClr val="ECF0F9"/>
          </a:solidFill>
          <a:ln w="9525">
            <a:solidFill>
              <a:srgbClr val="D7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67144" y="2103120"/>
            <a:ext cx="17830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3666F"/>
                </a:solidFill>
                <a:latin typeface="Calibri"/>
              </a:rPr>
              <a:t>Model ÷ SCED
over last 60 days
Anchors to
real output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32520" y="2606040"/>
            <a:ext cx="201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69B3"/>
                </a:solidFill>
                <a:latin typeface="Calibri"/>
              </a:rPr>
              <a:t>→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87968" y="1508760"/>
            <a:ext cx="1965960" cy="502920"/>
          </a:xfrm>
          <a:prstGeom prst="rect">
            <a:avLst/>
          </a:prstGeom>
          <a:solidFill>
            <a:srgbClr val="001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61120" y="1536192"/>
            <a:ext cx="18745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CEEFF"/>
                </a:solidFill>
                <a:latin typeface="Calibri"/>
              </a:rPr>
              <a:t>STEP 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61120" y="1755648"/>
            <a:ext cx="18745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Settlement
Calc.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887968" y="2011680"/>
            <a:ext cx="1965960" cy="2377440"/>
          </a:xfrm>
          <a:prstGeom prst="rect">
            <a:avLst/>
          </a:prstGeom>
          <a:solidFill>
            <a:srgbClr val="ECF0F9"/>
          </a:solidFill>
          <a:ln w="9525">
            <a:solidFill>
              <a:srgbClr val="D7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997696" y="2103120"/>
            <a:ext cx="17830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3666F"/>
                </a:solidFill>
                <a:latin typeface="Calibri"/>
              </a:rPr>
              <a:t>Daily MWh ×
(market price
− strike)
= net $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4617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48484"/>
                </a:solidFill>
                <a:latin typeface="Calibri"/>
              </a:rPr>
              <a:t>Output: daily net settlement bar chart + month total, refreshed on every page load.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069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164592"/>
            <a:ext cx="548640" cy="54864"/>
          </a:xfrm>
          <a:prstGeom prst="rect">
            <a:avLst/>
          </a:prstGeom>
          <a:solidFill>
            <a:srgbClr val="88A9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3774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FE6B0"/>
                </a:solidFill>
                <a:latin typeface="Calibri"/>
              </a:rPr>
              <a:t>DATA 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38912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Three-Tier Weather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07899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  <a:latin typeface="Calibri"/>
              </a:rPr>
              <a:t>High-res near-term → ensemble mid-range → climatological tail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CF0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5624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48484"/>
                </a:solidFill>
                <a:latin typeface="Calibri"/>
              </a:rPr>
              <a:t>Sustainability Roundtable, Inc.  · 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56248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0069B3"/>
                </a:solidFill>
                <a:latin typeface="Calibri"/>
              </a:rPr>
              <a:t>sr-inc.com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508760"/>
            <a:ext cx="3703320" cy="548640"/>
          </a:xfrm>
          <a:prstGeom prst="rect">
            <a:avLst/>
          </a:prstGeom>
          <a:solidFill>
            <a:srgbClr val="0069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536192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EEFF"/>
                </a:solidFill>
                <a:latin typeface="Calibri"/>
              </a:rPr>
              <a:t>Days 1–16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71907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Tier 1 — Standard Forecast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057400"/>
            <a:ext cx="3703320" cy="3291840"/>
          </a:xfrm>
          <a:prstGeom prst="rect">
            <a:avLst/>
          </a:prstGeom>
          <a:solidFill>
            <a:srgbClr val="ECF0F9"/>
          </a:solidFill>
          <a:ln w="9525">
            <a:solidFill>
              <a:srgbClr val="D7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2176272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3666F"/>
                </a:solidFill>
                <a:latin typeface="Calibri"/>
              </a:rPr>
              <a:t>• Source: Open-Meteo (free, no API key)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2660904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3666F"/>
                </a:solidFill>
                <a:latin typeface="Calibri"/>
              </a:rPr>
              <a:t>• Model: ECMWF / GFS high-resolution NWP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3145536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3666F"/>
                </a:solidFill>
                <a:latin typeface="Calibri"/>
              </a:rPr>
              <a:t>• Solar: hourly GHI (W/m²), temperature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3630168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3666F"/>
                </a:solidFill>
                <a:latin typeface="Calibri"/>
              </a:rPr>
              <a:t>• Wind: hourly speed at 80 m and 120 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" y="411480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3666F"/>
                </a:solidFill>
                <a:latin typeface="Calibri"/>
              </a:rPr>
              <a:t>• Updated: every page load (2-hr file cache)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" y="4599432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3666F"/>
                </a:solidFill>
                <a:latin typeface="Calibri"/>
              </a:rPr>
              <a:t>• Also fetches 31 past days for context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79392" y="1508760"/>
            <a:ext cx="3703320" cy="548640"/>
          </a:xfrm>
          <a:prstGeom prst="rect">
            <a:avLst/>
          </a:prstGeom>
          <a:solidFill>
            <a:srgbClr val="88A9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16552" y="1536192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EEFF"/>
                </a:solidFill>
                <a:latin typeface="Calibri"/>
              </a:rPr>
              <a:t>Days 17–35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16552" y="171907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Tier 2 — GEFS Ensemble P50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79392" y="2057400"/>
            <a:ext cx="3703320" cy="3291840"/>
          </a:xfrm>
          <a:prstGeom prst="rect">
            <a:avLst/>
          </a:prstGeom>
          <a:solidFill>
            <a:srgbClr val="ECF0F9"/>
          </a:solidFill>
          <a:ln w="9525">
            <a:solidFill>
              <a:srgbClr val="D7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43984" y="2176272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3666F"/>
                </a:solidFill>
                <a:latin typeface="Calibri"/>
              </a:rPr>
              <a:t>• Source: Open-Meteo Ensemble API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43984" y="2660904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3666F"/>
                </a:solidFill>
                <a:latin typeface="Calibri"/>
              </a:rPr>
              <a:t>• Model: GFS05 — 31 members averaged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43984" y="3145536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3666F"/>
                </a:solidFill>
                <a:latin typeface="Calibri"/>
              </a:rPr>
              <a:t>• Ensemble mean = P50 (expected value)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43984" y="3630168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3666F"/>
                </a:solidFill>
                <a:latin typeface="Calibri"/>
              </a:rPr>
              <a:t>• Wind: 80 m extrapolated to 120 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43984" y="411480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3666F"/>
                </a:solidFill>
                <a:latin typeface="Calibri"/>
              </a:rPr>
              <a:t>• Updated: every 6 hours (4×/day)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43984" y="4599432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3666F"/>
                </a:solidFill>
                <a:latin typeface="Calibri"/>
              </a:rPr>
              <a:t>• Boundary artifact trimmed automatically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93024" y="1508760"/>
            <a:ext cx="3703320" cy="548640"/>
          </a:xfrm>
          <a:prstGeom prst="rect">
            <a:avLst/>
          </a:prstGeom>
          <a:solidFill>
            <a:srgbClr val="01A0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30184" y="1536192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EEFF"/>
                </a:solidFill>
                <a:latin typeface="Calibri"/>
              </a:rPr>
              <a:t>Days 36–Month End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30184" y="171907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Tier 3 — Prior-Year ERA5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193024" y="2057400"/>
            <a:ext cx="3703320" cy="3291840"/>
          </a:xfrm>
          <a:prstGeom prst="rect">
            <a:avLst/>
          </a:prstGeom>
          <a:solidFill>
            <a:srgbClr val="ECF0F9"/>
          </a:solidFill>
          <a:ln w="9525">
            <a:solidFill>
              <a:srgbClr val="D7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57616" y="2176272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3666F"/>
                </a:solidFill>
                <a:latin typeface="Calibri"/>
              </a:rPr>
              <a:t>• Source: Open-Meteo Archive API (ERA5)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57616" y="2660904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3666F"/>
                </a:solidFill>
                <a:latin typeface="Calibri"/>
              </a:rPr>
              <a:t>• Same calendar days from prior year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57616" y="3145536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3666F"/>
                </a:solidFill>
                <a:latin typeface="Calibri"/>
              </a:rPr>
              <a:t>• Realistic day-to-day weather variation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57616" y="3630168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3666F"/>
                </a:solidFill>
                <a:latin typeface="Calibri"/>
              </a:rPr>
              <a:t>• Better than a flat monthly average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57616" y="411480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3666F"/>
                </a:solidFill>
                <a:latin typeface="Calibri"/>
              </a:rPr>
              <a:t>• Cached 24 hrs (historical, stable)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57616" y="4599432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3666F"/>
                </a:solidFill>
                <a:latin typeface="Calibri"/>
              </a:rPr>
              <a:t>• Flat historical shape used as backstop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55321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1F5F"/>
                </a:solidFill>
                <a:latin typeface="Calibri"/>
              </a:rPr>
              <a:t>Source priority: settled SCED actuals  &gt;  Tier 1  &gt;  Tier 2  &gt;  Tier 3  &gt;  flat historical shape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069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164592"/>
            <a:ext cx="548640" cy="54864"/>
          </a:xfrm>
          <a:prstGeom prst="rect">
            <a:avLst/>
          </a:prstGeom>
          <a:solidFill>
            <a:srgbClr val="88A9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3774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FE6B0"/>
                </a:solidFill>
                <a:latin typeface="Calibri"/>
              </a:rPr>
              <a:t>PHYSICS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38912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How Weather Becomes MWh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07899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  <a:latin typeface="Calibri"/>
              </a:rPr>
              <a:t>Separate models for solar PV and wind — both anchored by a calibration factor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CF0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5624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48484"/>
                </a:solidFill>
                <a:latin typeface="Calibri"/>
              </a:rPr>
              <a:t>Sustainability Roundtable, Inc.  · 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56248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0069B3"/>
                </a:solidFill>
                <a:latin typeface="Calibri"/>
              </a:rPr>
              <a:t>sr-inc.com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508760"/>
            <a:ext cx="5394960" cy="4297680"/>
          </a:xfrm>
          <a:prstGeom prst="rect">
            <a:avLst/>
          </a:prstGeom>
          <a:solidFill>
            <a:srgbClr val="ECF0F9"/>
          </a:solidFill>
          <a:ln w="9525">
            <a:solidFill>
              <a:srgbClr val="D7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508760"/>
            <a:ext cx="5394960" cy="457200"/>
          </a:xfrm>
          <a:prstGeom prst="rect">
            <a:avLst/>
          </a:prstGeom>
          <a:solidFill>
            <a:srgbClr val="0069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153619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☀  Solar PV 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2121408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69B3"/>
                </a:solidFill>
                <a:latin typeface="Calibri"/>
              </a:rPr>
              <a:t>Formula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2121408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3666F"/>
                </a:solidFill>
                <a:latin typeface="Calibri"/>
              </a:rPr>
              <a:t>MW = Capacity × (GHI W/m² ÷ 1,000) × Cal. Factor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2670048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69B3"/>
                </a:solidFill>
                <a:latin typeface="Calibri"/>
              </a:rPr>
              <a:t>Input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2670048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3666F"/>
                </a:solidFill>
                <a:latin typeface="Calibri"/>
              </a:rPr>
              <a:t>Hourly shortwave (GHI) from weather API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3218688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69B3"/>
                </a:solidFill>
                <a:latin typeface="Calibri"/>
              </a:rPr>
              <a:t>Capacity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3218688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3666F"/>
                </a:solidFill>
                <a:latin typeface="Calibri"/>
              </a:rPr>
              <a:t>Contracted MW share of the plant nameplate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" y="3767328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69B3"/>
                </a:solidFill>
                <a:latin typeface="Calibri"/>
              </a:rPr>
              <a:t>Cal. Factor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0240" y="3767328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3666F"/>
                </a:solidFill>
                <a:latin typeface="Calibri"/>
              </a:rPr>
              <a:t>Absorbs: panel efficiency (~17–20%), DC/AC losses,
soiling, row shading, availability derating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" y="4315968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69B3"/>
                </a:solidFill>
                <a:latin typeface="Calibri"/>
              </a:rPr>
              <a:t>Typical range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20240" y="4315968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3666F"/>
                </a:solidFill>
                <a:latin typeface="Calibri"/>
              </a:rPr>
              <a:t>Cal. Factor ≈ 0.15–0.25 for a real PV plant
(model is intentionally raw; factor corrects it)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" y="4864607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69B3"/>
                </a:solidFill>
                <a:latin typeface="Calibri"/>
              </a:rPr>
              <a:t>Cap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20240" y="4864607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3666F"/>
                </a:solidFill>
                <a:latin typeface="Calibri"/>
              </a:rPr>
              <a:t>Output capped at contracted capacity MW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1508760"/>
            <a:ext cx="5486400" cy="4297680"/>
          </a:xfrm>
          <a:prstGeom prst="rect">
            <a:avLst/>
          </a:prstGeom>
          <a:solidFill>
            <a:srgbClr val="ECF0F9"/>
          </a:solidFill>
          <a:ln w="9525">
            <a:solidFill>
              <a:srgbClr val="D7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09360" y="1508760"/>
            <a:ext cx="5486400" cy="457200"/>
          </a:xfrm>
          <a:prstGeom prst="rect">
            <a:avLst/>
          </a:prstGeom>
          <a:solidFill>
            <a:srgbClr val="88A9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73952" y="1536192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🌬  Wind Model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73952" y="2121408"/>
            <a:ext cx="1417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8A918"/>
                </a:solidFill>
                <a:latin typeface="Calibri"/>
              </a:rPr>
              <a:t>Step 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09560" y="2121408"/>
            <a:ext cx="3703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3666F"/>
                </a:solidFill>
                <a:latin typeface="Calibri"/>
              </a:rPr>
              <a:t>Extrapolate wind speed from 80/120 m
to turbine hub height (Hellmann α = 1/7)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73952" y="2834639"/>
            <a:ext cx="1417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8A918"/>
                </a:solidFill>
                <a:latin typeface="Calibri"/>
              </a:rPr>
              <a:t>Step 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09560" y="2834639"/>
            <a:ext cx="3703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3666F"/>
                </a:solidFill>
                <a:latin typeface="Calibri"/>
              </a:rPr>
              <a:t>Apply turbine power curve:
  &lt; cut-in  →  0 MW
  cut-in → rated  →  cubic ramp
  &gt; rated  →  full capacity
  &gt; cut-out  →  0 MW (storm protection)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73952" y="3547872"/>
            <a:ext cx="1417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8A918"/>
                </a:solidFill>
                <a:latin typeface="Calibri"/>
              </a:rPr>
              <a:t>Turbine
params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09560" y="3547872"/>
            <a:ext cx="3703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3666F"/>
                </a:solidFill>
                <a:latin typeface="Calibri"/>
              </a:rPr>
              <a:t>Per asset: Vestas V110 cut-out 20 m/s;
Nordex N149 cut-out 25 m/s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73952" y="4261104"/>
            <a:ext cx="1417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8A918"/>
                </a:solidFill>
                <a:latin typeface="Calibri"/>
              </a:rPr>
              <a:t>Cal. Factor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09560" y="4261104"/>
            <a:ext cx="3703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3666F"/>
                </a:solidFill>
                <a:latin typeface="Calibri"/>
              </a:rPr>
              <a:t>Scales model to real SCED output;
typically 0.5–1.5 for wind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069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164592"/>
            <a:ext cx="548640" cy="54864"/>
          </a:xfrm>
          <a:prstGeom prst="rect">
            <a:avLst/>
          </a:prstGeom>
          <a:solidFill>
            <a:srgbClr val="88A9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3774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FE6B0"/>
                </a:solidFill>
                <a:latin typeface="Calibri"/>
              </a:rPr>
              <a:t>CALIBRATION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38912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Anchoring the Model to Real Plant Output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07899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  <a:latin typeface="Calibri"/>
              </a:rPr>
              <a:t>The calibration factor is the single most important input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CF0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5624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48484"/>
                </a:solidFill>
                <a:latin typeface="Calibri"/>
              </a:rPr>
              <a:t>Sustainability Roundtable, Inc.  · 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56248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0069B3"/>
                </a:solidFill>
                <a:latin typeface="Calibri"/>
              </a:rPr>
              <a:t>sr-inc.com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508760"/>
            <a:ext cx="5394960" cy="2468880"/>
          </a:xfrm>
          <a:prstGeom prst="rect">
            <a:avLst/>
          </a:prstGeom>
          <a:solidFill>
            <a:srgbClr val="ECF0F9"/>
          </a:solidFill>
          <a:ln w="9525">
            <a:solidFill>
              <a:srgbClr val="D7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1627631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69B3"/>
                </a:solidFill>
                <a:latin typeface="Calibri"/>
              </a:rPr>
              <a:t>What is the Calibration Factor?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1947672"/>
            <a:ext cx="5029200" cy="537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3666F"/>
                </a:solidFill>
                <a:latin typeface="Calibri"/>
              </a:rPr>
              <a:t>• A scalar multiplier applied to model output so the
long-run average matches the plant's real SCED metering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2439162"/>
            <a:ext cx="5029200" cy="537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3666F"/>
                </a:solidFill>
                <a:latin typeface="Calibri"/>
              </a:rPr>
              <a:t>• Computed as:  Actual MWh  ÷  Model MWh
over the most recent 60 days of settled SCED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2930652"/>
            <a:ext cx="5029200" cy="537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3666F"/>
                </a:solidFill>
                <a:latin typeface="Calibri"/>
              </a:rPr>
              <a:t>• Absorbs all systematic differences between the simple
weather model and the real plant (efficiency, losses,
availability, curtailment, measurement error)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3422142"/>
            <a:ext cx="5029200" cy="537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3666F"/>
                </a:solidFill>
                <a:latin typeface="Calibri"/>
              </a:rPr>
              <a:t>• Clipped to [0.05, 3.0] — values outside this range
indicate a data problem, not a real plant behaviour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160520"/>
            <a:ext cx="5394960" cy="1691640"/>
          </a:xfrm>
          <a:prstGeom prst="rect">
            <a:avLst/>
          </a:prstGeom>
          <a:solidFill>
            <a:srgbClr val="ECF0F9"/>
          </a:solidFill>
          <a:ln w="9525">
            <a:solidFill>
              <a:srgbClr val="D7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" y="427939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69B3"/>
                </a:solidFill>
                <a:latin typeface="Calibri"/>
              </a:rPr>
              <a:t>Data Source for Calibration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4599431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3666F"/>
                </a:solidFill>
                <a:latin typeface="Calibri"/>
              </a:rPr>
              <a:t>• Uses ERA5 archive (not the live forecast) for weather —
live forecast zeros out radiation beyond ~30 days,
but SCED lags ~60 days, so archive is essential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5193792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3666F"/>
                </a:solidFill>
                <a:latin typeface="Calibri"/>
              </a:rPr>
              <a:t>• SCED data sourced from ERCOT 15-min generation tables
and scaled to the offtaker's contracted volume share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1508760"/>
            <a:ext cx="5486400" cy="2468880"/>
          </a:xfrm>
          <a:prstGeom prst="rect">
            <a:avLst/>
          </a:prstGeom>
          <a:solidFill>
            <a:srgbClr val="ECF0F9"/>
          </a:solidFill>
          <a:ln w="9525">
            <a:solidFill>
              <a:srgbClr val="D7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73952" y="1627631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1A06F"/>
                </a:solidFill>
                <a:latin typeface="Calibri"/>
              </a:rPr>
              <a:t>Example Cal. Factors (Live)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0528" y="1947672"/>
            <a:ext cx="5120640" cy="701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3666F"/>
                </a:solidFill>
                <a:latin typeface="Calibri"/>
              </a:rPr>
              <a:t>• Markum Solar:  1.231  (from 61 SCED days)
  → model produces 82% of actual output;
    factor corrects upward by 23%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10528" y="2602992"/>
            <a:ext cx="5120640" cy="701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3666F"/>
                </a:solidFill>
                <a:latin typeface="Calibri"/>
              </a:rPr>
              <a:t>• Azure Sky Wind:  1.108  (from 60+ SCED days)
  → model slightly understates output;
    factor adds ~11%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0528" y="3258312"/>
            <a:ext cx="5120640" cy="701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3666F"/>
                </a:solidFill>
                <a:latin typeface="Calibri"/>
              </a:rPr>
              <a:t>• Hidalgo Wind:  derived from available SCED history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4160520"/>
            <a:ext cx="5486400" cy="1691640"/>
          </a:xfrm>
          <a:prstGeom prst="rect">
            <a:avLst/>
          </a:prstGeom>
          <a:solidFill>
            <a:srgbClr val="ECF0F9"/>
          </a:solidFill>
          <a:ln w="9525">
            <a:solidFill>
              <a:srgbClr val="D7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73952" y="4279392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1A06F"/>
                </a:solidFill>
                <a:latin typeface="Calibri"/>
              </a:rPr>
              <a:t>Consistency Guarantee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10528" y="4599431"/>
            <a:ext cx="51206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3666F"/>
                </a:solidFill>
                <a:latin typeface="Calibri"/>
              </a:rPr>
              <a:t>• The calibration step and the forecast step always
use the same power curve parameters (cut-in, rated
speed, cut-out) — ensuring the factor is meaningful
and not distorted by a model mismatch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069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164592"/>
            <a:ext cx="548640" cy="54864"/>
          </a:xfrm>
          <a:prstGeom prst="rect">
            <a:avLst/>
          </a:prstGeom>
          <a:solidFill>
            <a:srgbClr val="88A9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3774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FE6B0"/>
                </a:solidFill>
                <a:latin typeface="Calibri"/>
              </a:rPr>
              <a:t>SETTLEMENT MATH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38912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From MWh to Dollars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07899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  <a:latin typeface="Calibri"/>
              </a:rPr>
              <a:t>VPPA / CfD settlement logic applied daily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CF0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5624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48484"/>
                </a:solidFill>
                <a:latin typeface="Calibri"/>
              </a:rPr>
              <a:t>Sustainability Roundtable, Inc.  · 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56248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0069B3"/>
                </a:solidFill>
                <a:latin typeface="Calibri"/>
              </a:rPr>
              <a:t>sr-inc.com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508760"/>
            <a:ext cx="11247120" cy="1005840"/>
          </a:xfrm>
          <a:prstGeom prst="rect">
            <a:avLst/>
          </a:prstGeom>
          <a:solidFill>
            <a:srgbClr val="001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57276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Daily Net Settlement ($)  =  MWh  ×  (Market Price  −  Strike Price)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0299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4A4DA"/>
                </a:solidFill>
                <a:latin typeface="Calibri"/>
              </a:rPr>
              <a:t>Sign convention: positive = offtaker receives;  negative = offtaker pays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651760"/>
            <a:ext cx="3657600" cy="3383280"/>
          </a:xfrm>
          <a:prstGeom prst="rect">
            <a:avLst/>
          </a:prstGeom>
          <a:solidFill>
            <a:srgbClr val="ECF0F9"/>
          </a:solidFill>
          <a:ln w="9525">
            <a:solidFill>
              <a:srgbClr val="D7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2770632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69B3"/>
                </a:solidFill>
                <a:latin typeface="Calibri"/>
              </a:rPr>
              <a:t>MWh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3090672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3666F"/>
                </a:solidFill>
                <a:latin typeface="Calibri"/>
              </a:rPr>
              <a:t>• Forecasted daily generation at
the contracted volume share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4050791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3666F"/>
                </a:solidFill>
                <a:latin typeface="Calibri"/>
              </a:rPr>
              <a:t>• Source priority:
  1. Settled SCED (actuals)
  2. Weather model × cal. factor
  3. GEFS ensemble
  4. ERA5 climatology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010912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3666F"/>
                </a:solidFill>
                <a:latin typeface="Calibri"/>
              </a:rPr>
              <a:t>• Capped at contracted capacity MW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80" y="2651760"/>
            <a:ext cx="3657600" cy="3383280"/>
          </a:xfrm>
          <a:prstGeom prst="rect">
            <a:avLst/>
          </a:prstGeom>
          <a:solidFill>
            <a:srgbClr val="ECF0F9"/>
          </a:solidFill>
          <a:ln w="9525">
            <a:solidFill>
              <a:srgbClr val="D7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62272" y="2770632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88A918"/>
                </a:solidFill>
                <a:latin typeface="Calibri"/>
              </a:rPr>
              <a:t>Market Price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98848" y="3090672"/>
            <a:ext cx="3291840" cy="7658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3666F"/>
                </a:solidFill>
                <a:latin typeface="Calibri"/>
              </a:rPr>
              <a:t>• Real-time settlement point price
($/MWh) at the contract node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98848" y="3810762"/>
            <a:ext cx="3291840" cy="7658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3666F"/>
                </a:solidFill>
                <a:latin typeface="Calibri"/>
              </a:rPr>
              <a:t>• For past settled days: actual
ERCOT 15-min RT prices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98848" y="4530852"/>
            <a:ext cx="3291840" cy="7658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3666F"/>
                </a:solidFill>
                <a:latin typeface="Calibri"/>
              </a:rPr>
              <a:t>• For forecast days: user-entered
forward price assumption
(defaults to trailing capture
price from history)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98848" y="5250942"/>
            <a:ext cx="3291840" cy="7658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3666F"/>
                </a:solidFill>
                <a:latin typeface="Calibri"/>
              </a:rPr>
              <a:t>• Not a modelled price — always
a user assumption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38160" y="2651760"/>
            <a:ext cx="3657600" cy="3383280"/>
          </a:xfrm>
          <a:prstGeom prst="rect">
            <a:avLst/>
          </a:prstGeom>
          <a:solidFill>
            <a:srgbClr val="ECF0F9"/>
          </a:solidFill>
          <a:ln w="9525">
            <a:solidFill>
              <a:srgbClr val="D7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02752" y="2770632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4A4DA"/>
                </a:solidFill>
                <a:latin typeface="Calibri"/>
              </a:rPr>
              <a:t>Strike Price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39328" y="3090672"/>
            <a:ext cx="3291840" cy="525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3666F"/>
                </a:solidFill>
                <a:latin typeface="Calibri"/>
              </a:rPr>
              <a:t>• Fixed contract price in $/MWh
(set in Contract Terms page)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39328" y="3570732"/>
            <a:ext cx="3291840" cy="525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3666F"/>
                </a:solidFill>
                <a:latin typeface="Calibri"/>
              </a:rPr>
              <a:t>• Markum Solar:  $35.00/MWh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39328" y="4050791"/>
            <a:ext cx="3291840" cy="525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3666F"/>
                </a:solidFill>
                <a:latin typeface="Calibri"/>
              </a:rPr>
              <a:t>• Azure Sky Wind:  $17.34/MWh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39328" y="4530852"/>
            <a:ext cx="3291840" cy="525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3666F"/>
                </a:solidFill>
                <a:latin typeface="Calibri"/>
              </a:rPr>
              <a:t>• Hidalgo Wind:  $35.00/MWh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39328" y="5010912"/>
            <a:ext cx="3291840" cy="525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3666F"/>
                </a:solidFill>
                <a:latin typeface="Calibri"/>
              </a:rPr>
              <a:t>• When market &gt; strike:
  offtaker RECEIVES the spread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39328" y="5490972"/>
            <a:ext cx="3291840" cy="525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3666F"/>
                </a:solidFill>
                <a:latin typeface="Calibri"/>
              </a:rPr>
              <a:t>• When market &lt; strike:
  offtaker PAYS the spread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069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164592"/>
            <a:ext cx="548640" cy="54864"/>
          </a:xfrm>
          <a:prstGeom prst="rect">
            <a:avLst/>
          </a:prstGeom>
          <a:solidFill>
            <a:srgbClr val="88A9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3774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FE6B0"/>
                </a:solidFill>
                <a:latin typeface="Calibri"/>
              </a:rPr>
              <a:t>KEY DRIVERS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38912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What Moves the Forecast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07899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  <a:latin typeface="Calibri"/>
              </a:rPr>
              <a:t>Ranked by typical impact on the monthly net settlement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CF0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5624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48484"/>
                </a:solidFill>
                <a:latin typeface="Calibri"/>
              </a:rPr>
              <a:t>Sustainability Roundtable, Inc.  · 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56248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0069B3"/>
                </a:solidFill>
                <a:latin typeface="Calibri"/>
              </a:rPr>
              <a:t>sr-inc.com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554480"/>
            <a:ext cx="502920" cy="1005840"/>
          </a:xfrm>
          <a:prstGeom prst="rect">
            <a:avLst/>
          </a:prstGeom>
          <a:solidFill>
            <a:srgbClr val="0069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82880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1554480"/>
            <a:ext cx="2011680" cy="1005840"/>
          </a:xfrm>
          <a:prstGeom prst="rect">
            <a:avLst/>
          </a:prstGeom>
          <a:solidFill>
            <a:srgbClr val="ECF0F9"/>
          </a:solidFill>
          <a:ln w="6350">
            <a:solidFill>
              <a:srgbClr val="D7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173736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69B3"/>
                </a:solidFill>
                <a:latin typeface="Calibri"/>
              </a:rPr>
              <a:t>Forward Price
Assumption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80360" y="1554480"/>
            <a:ext cx="8046720" cy="1005840"/>
          </a:xfrm>
          <a:prstGeom prst="rect">
            <a:avLst/>
          </a:prstGeom>
          <a:solidFill>
            <a:srgbClr val="ECF0F9"/>
          </a:solidFill>
          <a:ln w="6350">
            <a:solidFill>
              <a:srgbClr val="D7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17520" y="1664207"/>
            <a:ext cx="76809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3666F"/>
                </a:solidFill>
                <a:latin typeface="Calibri"/>
              </a:rPr>
              <a:t>Largest single driver. The user sets this on the sidebar. A $5/MWh change on a 40,000 MWh month shifts the estimate by ±$200,000. Default is the trailing capture price from history.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27080" y="1554480"/>
            <a:ext cx="914400" cy="1005840"/>
          </a:xfrm>
          <a:prstGeom prst="rect">
            <a:avLst/>
          </a:prstGeom>
          <a:solidFill>
            <a:srgbClr val="0069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45368" y="1810512"/>
            <a:ext cx="868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High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743200"/>
            <a:ext cx="502920" cy="1005840"/>
          </a:xfrm>
          <a:prstGeom prst="rect">
            <a:avLst/>
          </a:prstGeom>
          <a:solidFill>
            <a:srgbClr val="88A9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301752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8680" y="2743200"/>
            <a:ext cx="2011680" cy="1005840"/>
          </a:xfrm>
          <a:prstGeom prst="rect">
            <a:avLst/>
          </a:prstGeom>
          <a:solidFill>
            <a:srgbClr val="ECF0F9"/>
          </a:solidFill>
          <a:ln w="6350">
            <a:solidFill>
              <a:srgbClr val="D7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292608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8A918"/>
                </a:solidFill>
                <a:latin typeface="Calibri"/>
              </a:rPr>
              <a:t>Generation
Forecast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80360" y="2743200"/>
            <a:ext cx="8046720" cy="1005840"/>
          </a:xfrm>
          <a:prstGeom prst="rect">
            <a:avLst/>
          </a:prstGeom>
          <a:solidFill>
            <a:srgbClr val="ECF0F9"/>
          </a:solidFill>
          <a:ln w="6350">
            <a:solidFill>
              <a:srgbClr val="D7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017520" y="2852928"/>
            <a:ext cx="76809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3666F"/>
                </a:solidFill>
                <a:latin typeface="Calibri"/>
              </a:rPr>
              <a:t>Weather uncertainty compounds over the month. Near-term (16 days) is high-res and reliable. GEFS ensemble is P50 and less certain. ERA5 climatology adds typical-year variation.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927080" y="2743200"/>
            <a:ext cx="914400" cy="1005840"/>
          </a:xfrm>
          <a:prstGeom prst="rect">
            <a:avLst/>
          </a:prstGeom>
          <a:solidFill>
            <a:srgbClr val="88A9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45368" y="2999232"/>
            <a:ext cx="868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Medium–High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3931920"/>
            <a:ext cx="502920" cy="1005840"/>
          </a:xfrm>
          <a:prstGeom prst="rect">
            <a:avLst/>
          </a:prstGeom>
          <a:solidFill>
            <a:srgbClr val="01A0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420624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68680" y="3931920"/>
            <a:ext cx="2011680" cy="1005840"/>
          </a:xfrm>
          <a:prstGeom prst="rect">
            <a:avLst/>
          </a:prstGeom>
          <a:solidFill>
            <a:srgbClr val="ECF0F9"/>
          </a:solidFill>
          <a:ln w="6350">
            <a:solidFill>
              <a:srgbClr val="D7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" y="411480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1A06F"/>
                </a:solidFill>
                <a:latin typeface="Calibri"/>
              </a:rPr>
              <a:t>Calibration
Factor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880360" y="3931920"/>
            <a:ext cx="8046720" cy="1005840"/>
          </a:xfrm>
          <a:prstGeom prst="rect">
            <a:avLst/>
          </a:prstGeom>
          <a:solidFill>
            <a:srgbClr val="ECF0F9"/>
          </a:solidFill>
          <a:ln w="6350">
            <a:solidFill>
              <a:srgbClr val="D7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017520" y="4041648"/>
            <a:ext cx="76809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3666F"/>
                </a:solidFill>
                <a:latin typeface="Calibri"/>
              </a:rPr>
              <a:t>Anchors the model to real output. Estimated from 60 days of SCED. Stable once enough history is available; unreliable on new plants with &lt; 30 days of settled data.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927080" y="3931920"/>
            <a:ext cx="914400" cy="1005840"/>
          </a:xfrm>
          <a:prstGeom prst="rect">
            <a:avLst/>
          </a:prstGeom>
          <a:solidFill>
            <a:srgbClr val="01A0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945368" y="4187952"/>
            <a:ext cx="868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Medium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5120640"/>
            <a:ext cx="502920" cy="1005840"/>
          </a:xfrm>
          <a:prstGeom prst="rect">
            <a:avLst/>
          </a:prstGeom>
          <a:solidFill>
            <a:srgbClr val="54A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" y="539496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68680" y="5120640"/>
            <a:ext cx="2011680" cy="1005840"/>
          </a:xfrm>
          <a:prstGeom prst="rect">
            <a:avLst/>
          </a:prstGeom>
          <a:solidFill>
            <a:srgbClr val="ECF0F9"/>
          </a:solidFill>
          <a:ln w="6350">
            <a:solidFill>
              <a:srgbClr val="D7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05840" y="530352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4A4DA"/>
                </a:solidFill>
                <a:latin typeface="Calibri"/>
              </a:rPr>
              <a:t>Market Price
Variability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880360" y="5120640"/>
            <a:ext cx="8046720" cy="1005840"/>
          </a:xfrm>
          <a:prstGeom prst="rect">
            <a:avLst/>
          </a:prstGeom>
          <a:solidFill>
            <a:srgbClr val="ECF0F9"/>
          </a:solidFill>
          <a:ln w="6350">
            <a:solidFill>
              <a:srgbClr val="D7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017520" y="5230368"/>
            <a:ext cx="76809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3666F"/>
                </a:solidFill>
                <a:latin typeface="Calibri"/>
              </a:rPr>
              <a:t>Actual ERCOT prices are highly volatile (weather, demand, outages). The forward assumption smooths this. Large deviation events (e.g. winter storms) are not captured.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927080" y="5120640"/>
            <a:ext cx="914400" cy="1005840"/>
          </a:xfrm>
          <a:prstGeom prst="rect">
            <a:avLst/>
          </a:prstGeom>
          <a:solidFill>
            <a:srgbClr val="54A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945368" y="5376672"/>
            <a:ext cx="868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Low (estimate)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141732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48484"/>
                </a:solidFill>
                <a:latin typeface="Calibri"/>
              </a:rPr>
              <a:t>← Impact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069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164592"/>
            <a:ext cx="548640" cy="54864"/>
          </a:xfrm>
          <a:prstGeom prst="rect">
            <a:avLst/>
          </a:prstGeom>
          <a:solidFill>
            <a:srgbClr val="88A9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3774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FE6B0"/>
                </a:solidFill>
                <a:latin typeface="Calibri"/>
              </a:rPr>
              <a:t>METHODOLOGY NOTES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38912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Limitations &amp; Transparency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07899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  <a:latin typeface="Calibri"/>
              </a:rPr>
              <a:t>What the model cannot do — and where to find the authoritative figures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CF0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5624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48484"/>
                </a:solidFill>
                <a:latin typeface="Calibri"/>
              </a:rPr>
              <a:t>Sustainability Roundtable, Inc.  · 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56248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0069B3"/>
                </a:solidFill>
                <a:latin typeface="Calibri"/>
              </a:rPr>
              <a:t>sr-inc.com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508760"/>
            <a:ext cx="5394960" cy="4297680"/>
          </a:xfrm>
          <a:prstGeom prst="rect">
            <a:avLst/>
          </a:prstGeom>
          <a:solidFill>
            <a:srgbClr val="FDF0F2"/>
          </a:solidFill>
          <a:ln w="9525">
            <a:solidFill>
              <a:srgbClr val="E8C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1627631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B23A48"/>
                </a:solidFill>
                <a:latin typeface="Calibri"/>
              </a:rPr>
              <a:t>Known Limitations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1947672"/>
            <a:ext cx="5029200" cy="6781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3666F"/>
                </a:solidFill>
                <a:latin typeface="Calibri"/>
              </a:rPr>
              <a:t>• Weather beyond 35 days uses prior-year climatology —
actual weather can differ significantly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2580132"/>
            <a:ext cx="5029200" cy="6781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3666F"/>
                </a:solidFill>
                <a:latin typeface="Calibri"/>
              </a:rPr>
              <a:t>• The power curve is a simplified cubic model;
real turbine curves have smoother transitions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3212592"/>
            <a:ext cx="5029200" cy="6781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3666F"/>
                </a:solidFill>
                <a:latin typeface="Calibri"/>
              </a:rPr>
              <a:t>• No curtailment model — forecasted output may exceed
what ERCOT actually dispatches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3845052"/>
            <a:ext cx="5029200" cy="6781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3666F"/>
                </a:solidFill>
                <a:latin typeface="Calibri"/>
              </a:rPr>
              <a:t>• Forward price is user-supplied — the tool does not
forecast ERCOT market prices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4477512"/>
            <a:ext cx="5029200" cy="6781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3666F"/>
                </a:solidFill>
                <a:latin typeface="Calibri"/>
              </a:rPr>
              <a:t>• Calibration requires ~30+ days of settled SCED data;
results on new plants are less reliable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5109972"/>
            <a:ext cx="5029200" cy="6781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3666F"/>
                </a:solidFill>
                <a:latin typeface="Calibri"/>
              </a:rPr>
              <a:t>• Extreme weather events (storms, heat waves) are not
captured in the ensemble P50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1508760"/>
            <a:ext cx="5486400" cy="2057400"/>
          </a:xfrm>
          <a:prstGeom prst="rect">
            <a:avLst/>
          </a:prstGeom>
          <a:solidFill>
            <a:srgbClr val="ECF0F9"/>
          </a:solidFill>
          <a:ln w="9525">
            <a:solidFill>
              <a:srgbClr val="D7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1627631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1A06F"/>
                </a:solidFill>
                <a:latin typeface="Calibri"/>
              </a:rPr>
              <a:t>Authoritative Data Sources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8" y="1947672"/>
            <a:ext cx="5120640" cy="563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3666F"/>
                </a:solidFill>
                <a:latin typeface="Calibri"/>
              </a:rPr>
              <a:t>• Past Settlement (actual): ERCOT 15-min metered
generation × real-time settlement prices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0528" y="2465831"/>
            <a:ext cx="5120640" cy="563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3666F"/>
                </a:solidFill>
                <a:latin typeface="Calibri"/>
              </a:rPr>
              <a:t>• Invoice Audit page: full interval-level detail,
downloadable for billing verification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0528" y="2983991"/>
            <a:ext cx="5120640" cy="563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3666F"/>
                </a:solidFill>
                <a:latin typeface="Calibri"/>
              </a:rPr>
              <a:t>• Cross-check: EIA Form 923 monthly generation
shown alongside SCED for independent validation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60" y="3749039"/>
            <a:ext cx="5486400" cy="2057400"/>
          </a:xfrm>
          <a:prstGeom prst="rect">
            <a:avLst/>
          </a:prstGeom>
          <a:solidFill>
            <a:srgbClr val="ECF0F9"/>
          </a:solidFill>
          <a:ln w="9525">
            <a:solidFill>
              <a:srgbClr val="D7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73952" y="3867911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69B3"/>
                </a:solidFill>
                <a:latin typeface="Calibri"/>
              </a:rPr>
              <a:t>Free &amp; Cited Data Sources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0528" y="4187952"/>
            <a:ext cx="5120640" cy="4343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3666F"/>
                </a:solidFill>
                <a:latin typeface="Calibri"/>
              </a:rPr>
              <a:t>• Weather: Open-Meteo (open source, no API key)
  open-meteo.com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0528" y="4576572"/>
            <a:ext cx="5120640" cy="4343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3666F"/>
                </a:solidFill>
                <a:latin typeface="Calibri"/>
              </a:rPr>
              <a:t>• Reanalysis: ERA5 via Open-Meteo Archive API
  (ECMWF reanalysis v5, hourly, global)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10528" y="4965192"/>
            <a:ext cx="5120640" cy="4343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3666F"/>
                </a:solidFill>
                <a:latin typeface="Calibri"/>
              </a:rPr>
              <a:t>• Ensemble: GFS05 via Open-Meteo Ensemble API
  (NOAA GFS, 31-member, 35-day horizon)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10528" y="5353812"/>
            <a:ext cx="5120640" cy="4343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3666F"/>
                </a:solidFill>
                <a:latin typeface="Calibri"/>
              </a:rPr>
              <a:t>• Generation: ERCOT SCED / MIS public data
  (15-min, plant-level, ~60-day lag)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1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0"/>
            <a:ext cx="12188952" cy="914400"/>
          </a:xfrm>
          <a:prstGeom prst="rect">
            <a:avLst/>
          </a:prstGeom>
          <a:solidFill>
            <a:srgbClr val="0069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3246120"/>
            <a:ext cx="1005840" cy="64008"/>
          </a:xfrm>
          <a:prstGeom prst="rect">
            <a:avLst/>
          </a:prstGeom>
          <a:solidFill>
            <a:srgbClr val="88A9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FE6B0"/>
                </a:solidFill>
                <a:latin typeface="Calibri"/>
              </a:rPr>
              <a:t>SUSTAINABILITY ROUNDTABLE, INC.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5740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Key Takeaways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3383280"/>
            <a:ext cx="109728" cy="292608"/>
          </a:xfrm>
          <a:prstGeom prst="rect">
            <a:avLst/>
          </a:prstGeom>
          <a:solidFill>
            <a:srgbClr val="88A9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3383280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The forecast uses real weather data updated daily — not a static model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3858768"/>
            <a:ext cx="109728" cy="292608"/>
          </a:xfrm>
          <a:prstGeom prst="rect">
            <a:avLst/>
          </a:prstGeom>
          <a:solidFill>
            <a:srgbClr val="88A9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858768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The calibration factor is the critical link between the weather model and real plant output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4334256"/>
            <a:ext cx="109728" cy="292608"/>
          </a:xfrm>
          <a:prstGeom prst="rect">
            <a:avLst/>
          </a:prstGeom>
          <a:solidFill>
            <a:srgbClr val="88A9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334256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Near-term (16 days) is reliable; beyond 35 days is climatological context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4809744"/>
            <a:ext cx="109728" cy="292608"/>
          </a:xfrm>
          <a:prstGeom prst="rect">
            <a:avLst/>
          </a:prstGeom>
          <a:solidFill>
            <a:srgbClr val="88A9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809744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The forward price assumption drives the dollar outcome — always user-controlled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5285231"/>
            <a:ext cx="109728" cy="292608"/>
          </a:xfrm>
          <a:prstGeom prst="rect">
            <a:avLst/>
          </a:prstGeom>
          <a:solidFill>
            <a:srgbClr val="88A9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5285231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Authoritative settlement figures are on the Past Settlement page, not the forecast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01675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4A4DA"/>
                </a:solidFill>
                <a:latin typeface="Calibri"/>
              </a:rPr>
              <a:t>Questions?  Contact Sustainability Roundtable, Inc.  ·  sr-inc.com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